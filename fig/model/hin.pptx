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</p:sldIdLst>
  <p:sldSz cx="11518900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91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132" y="15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32812" y="432115"/>
            <a:ext cx="9259799" cy="1214686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283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32812" y="1682527"/>
            <a:ext cx="9259799" cy="69580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135" spc="200"/>
            </a:lvl1pPr>
            <a:lvl2pPr marL="215900" indent="0" algn="ctr">
              <a:buNone/>
              <a:defRPr sz="940"/>
            </a:lvl2pPr>
            <a:lvl3pPr marL="431800" indent="0" algn="ctr">
              <a:buNone/>
              <a:defRPr sz="850"/>
            </a:lvl3pPr>
            <a:lvl4pPr marL="648335" indent="0" algn="ctr">
              <a:buNone/>
              <a:defRPr sz="755"/>
            </a:lvl4pPr>
            <a:lvl5pPr marL="864235" indent="0" algn="ctr">
              <a:buNone/>
              <a:defRPr sz="755"/>
            </a:lvl5pPr>
            <a:lvl6pPr marL="1080135" indent="0" algn="ctr">
              <a:buNone/>
              <a:defRPr sz="755"/>
            </a:lvl6pPr>
            <a:lvl7pPr marL="1296035" indent="0" algn="ctr">
              <a:buNone/>
              <a:defRPr sz="755"/>
            </a:lvl7pPr>
            <a:lvl8pPr marL="1512570" indent="0" algn="ctr">
              <a:buNone/>
              <a:defRPr sz="755"/>
            </a:lvl8pPr>
            <a:lvl9pPr marL="1728470" indent="0" algn="ctr">
              <a:buNone/>
              <a:defRPr sz="75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74910" y="287510"/>
            <a:ext cx="10365396" cy="3334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74910" y="704314"/>
            <a:ext cx="10365396" cy="224904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881216" y="1818627"/>
            <a:ext cx="7341163" cy="36236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208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881216" y="2180991"/>
            <a:ext cx="7341163" cy="409999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8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15900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2pPr>
            <a:lvl3pPr marL="431800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3pPr>
            <a:lvl4pPr marL="648335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4pPr>
            <a:lvl5pPr marL="864235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5pPr>
            <a:lvl6pPr marL="1080135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6pPr>
            <a:lvl7pPr marL="1296035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7pPr>
            <a:lvl8pPr marL="1512570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8pPr>
            <a:lvl9pPr marL="1728470" indent="0">
              <a:buNone/>
              <a:defRPr sz="7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74910" y="287510"/>
            <a:ext cx="10365396" cy="3334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574910" y="709418"/>
            <a:ext cx="4891841" cy="224393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58671" y="709418"/>
            <a:ext cx="4891841" cy="224393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74910" y="287510"/>
            <a:ext cx="10365396" cy="3334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574910" y="675393"/>
            <a:ext cx="5048325" cy="180332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9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5900" indent="0">
              <a:buNone/>
              <a:defRPr sz="940" b="1"/>
            </a:lvl2pPr>
            <a:lvl3pPr marL="431800" indent="0">
              <a:buNone/>
              <a:defRPr sz="850" b="1"/>
            </a:lvl3pPr>
            <a:lvl4pPr marL="648335" indent="0">
              <a:buNone/>
              <a:defRPr sz="755" b="1"/>
            </a:lvl4pPr>
            <a:lvl5pPr marL="864235" indent="0">
              <a:buNone/>
              <a:defRPr sz="755" b="1"/>
            </a:lvl5pPr>
            <a:lvl6pPr marL="1080135" indent="0">
              <a:buNone/>
              <a:defRPr sz="755" b="1"/>
            </a:lvl6pPr>
            <a:lvl7pPr marL="1296035" indent="0">
              <a:buNone/>
              <a:defRPr sz="755" b="1"/>
            </a:lvl7pPr>
            <a:lvl8pPr marL="1512570" indent="0">
              <a:buNone/>
              <a:defRPr sz="755" b="1"/>
            </a:lvl8pPr>
            <a:lvl9pPr marL="1728470" indent="0">
              <a:buNone/>
              <a:defRPr sz="75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574910" y="876139"/>
            <a:ext cx="5048325" cy="20772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5892501" y="671862"/>
            <a:ext cx="5048325" cy="180332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94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15900" indent="0">
              <a:buNone/>
              <a:defRPr sz="940" b="1"/>
            </a:lvl2pPr>
            <a:lvl3pPr marL="431800" indent="0">
              <a:buNone/>
              <a:defRPr sz="850" b="1"/>
            </a:lvl3pPr>
            <a:lvl4pPr marL="648335" indent="0">
              <a:buNone/>
              <a:defRPr sz="755" b="1"/>
            </a:lvl4pPr>
            <a:lvl5pPr marL="864235" indent="0">
              <a:buNone/>
              <a:defRPr sz="755" b="1"/>
            </a:lvl5pPr>
            <a:lvl6pPr marL="1080135" indent="0">
              <a:buNone/>
              <a:defRPr sz="755" b="1"/>
            </a:lvl6pPr>
            <a:lvl7pPr marL="1296035" indent="0">
              <a:buNone/>
              <a:defRPr sz="755" b="1"/>
            </a:lvl7pPr>
            <a:lvl8pPr marL="1512570" indent="0">
              <a:buNone/>
              <a:defRPr sz="755" b="1"/>
            </a:lvl8pPr>
            <a:lvl9pPr marL="1728470" indent="0">
              <a:buNone/>
              <a:defRPr sz="755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5892501" y="876139"/>
            <a:ext cx="5048325" cy="207721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74910" y="287510"/>
            <a:ext cx="10365396" cy="33344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574910" y="734936"/>
            <a:ext cx="4945020" cy="21775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75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000840" y="734936"/>
            <a:ext cx="4939467" cy="2177589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755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2025/2/3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9671421" y="432115"/>
            <a:ext cx="986533" cy="2376634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32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64066" y="432115"/>
            <a:ext cx="8664478" cy="2376634"/>
          </a:xfrm>
        </p:spPr>
        <p:txBody>
          <a:bodyPr vert="eaVert" lIns="46800" tIns="46800" rIns="46800" bIns="46800"/>
          <a:lstStyle>
            <a:lvl1pPr marL="107950" indent="-107950">
              <a:spcAft>
                <a:spcPts val="1000"/>
              </a:spcAft>
              <a:defRPr spc="300"/>
            </a:lvl1pPr>
            <a:lvl2pPr marL="324485" indent="-107950">
              <a:defRPr spc="300"/>
            </a:lvl2pPr>
            <a:lvl3pPr marL="540385" indent="-107950">
              <a:defRPr spc="300"/>
            </a:lvl3pPr>
            <a:lvl4pPr marL="756285" indent="-107950">
              <a:defRPr spc="300"/>
            </a:lvl4pPr>
            <a:lvl5pPr marL="972185" indent="-1079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4910" y="365767"/>
            <a:ext cx="10368798" cy="259099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32812" y="1173856"/>
            <a:ext cx="9259799" cy="481451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283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32812" y="1682527"/>
            <a:ext cx="9259799" cy="22286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13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74910" y="287510"/>
            <a:ext cx="10365396" cy="33344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574910" y="704314"/>
            <a:ext cx="10365396" cy="2249041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578312" y="2983977"/>
            <a:ext cx="2551377" cy="14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4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889433" y="2983977"/>
            <a:ext cx="3742020" cy="14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388929" y="2983977"/>
            <a:ext cx="2551377" cy="149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47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31800" rtl="0" eaLnBrk="1" fontAlgn="auto" latinLnBrk="0" hangingPunct="1">
        <a:lnSpc>
          <a:spcPct val="100000"/>
        </a:lnSpc>
        <a:spcBef>
          <a:spcPct val="0"/>
        </a:spcBef>
        <a:buNone/>
        <a:defRPr sz="1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07950" indent="-107950" algn="l" defTabSz="431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8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324485" indent="-107950" algn="l" defTabSz="4318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760730" algn="l"/>
          <a:tab pos="760730" algn="l"/>
          <a:tab pos="760730" algn="l"/>
          <a:tab pos="760730" algn="l"/>
        </a:tabLst>
        <a:defRPr sz="7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540385" indent="-107950" algn="l" defTabSz="4318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75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756285" indent="-107950" algn="l" defTabSz="4318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6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972185" indent="-107950" algn="l" defTabSz="4318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6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188720" indent="-107950" algn="l" defTabSz="43180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404620" indent="-107950" algn="l" defTabSz="43180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620520" indent="-107950" algn="l" defTabSz="43180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836420" indent="-107950" algn="l" defTabSz="431800" rtl="0" eaLnBrk="1" latinLnBrk="0" hangingPunct="1">
        <a:lnSpc>
          <a:spcPct val="90000"/>
        </a:lnSpc>
        <a:spcBef>
          <a:spcPts val="235"/>
        </a:spcBef>
        <a:buFont typeface="Arial" panose="020B0604020202020204" pitchFamily="34" charset="0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1pPr>
      <a:lvl2pPr marL="215900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2pPr>
      <a:lvl3pPr marL="431800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3pPr>
      <a:lvl4pPr marL="648335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4pPr>
      <a:lvl5pPr marL="864235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6pPr>
      <a:lvl7pPr marL="1296035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1512570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1728470" algn="l" defTabSz="4318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18" Type="http://schemas.openxmlformats.org/officeDocument/2006/relationships/tags" Target="../tags/tag80.xml"/><Relationship Id="rId26" Type="http://schemas.openxmlformats.org/officeDocument/2006/relationships/image" Target="../media/image4.png"/><Relationship Id="rId3" Type="http://schemas.openxmlformats.org/officeDocument/2006/relationships/tags" Target="../tags/tag65.xml"/><Relationship Id="rId21" Type="http://schemas.openxmlformats.org/officeDocument/2006/relationships/tags" Target="../tags/tag83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tags" Target="../tags/tag79.xml"/><Relationship Id="rId25" Type="http://schemas.openxmlformats.org/officeDocument/2006/relationships/image" Target="../media/image3.png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20" Type="http://schemas.openxmlformats.org/officeDocument/2006/relationships/tags" Target="../tags/tag82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24" Type="http://schemas.openxmlformats.org/officeDocument/2006/relationships/image" Target="../media/image2.png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23" Type="http://schemas.openxmlformats.org/officeDocument/2006/relationships/image" Target="../media/image1.png"/><Relationship Id="rId28" Type="http://schemas.openxmlformats.org/officeDocument/2006/relationships/image" Target="../media/image6.svg"/><Relationship Id="rId10" Type="http://schemas.openxmlformats.org/officeDocument/2006/relationships/tags" Target="../tags/tag72.xml"/><Relationship Id="rId19" Type="http://schemas.openxmlformats.org/officeDocument/2006/relationships/tags" Target="../tags/tag81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Relationship Id="rId22" Type="http://schemas.openxmlformats.org/officeDocument/2006/relationships/slideLayout" Target="../slideLayouts/slideLayout1.xml"/><Relationship Id="rId2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093960" y="995680"/>
            <a:ext cx="431165" cy="431165"/>
          </a:xfrm>
          <a:prstGeom prst="rect">
            <a:avLst/>
          </a:prstGeom>
        </p:spPr>
      </p:pic>
      <p:pic>
        <p:nvPicPr>
          <p:cNvPr id="4" name="图片 3" descr="target nod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19055" y="2002155"/>
            <a:ext cx="430530" cy="430530"/>
          </a:xfrm>
          <a:prstGeom prst="rect">
            <a:avLst/>
          </a:prstGeom>
        </p:spPr>
      </p:pic>
      <p:pic>
        <p:nvPicPr>
          <p:cNvPr id="44" name="图片 43" descr="target nod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402445" y="21590"/>
            <a:ext cx="431165" cy="431165"/>
          </a:xfrm>
          <a:prstGeom prst="rect">
            <a:avLst/>
          </a:prstGeom>
        </p:spPr>
      </p:pic>
      <p:pic>
        <p:nvPicPr>
          <p:cNvPr id="45" name="图片 44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36660" y="681990"/>
            <a:ext cx="431165" cy="431165"/>
          </a:xfrm>
          <a:prstGeom prst="rect">
            <a:avLst/>
          </a:prstGeom>
        </p:spPr>
      </p:pic>
      <p:pic>
        <p:nvPicPr>
          <p:cNvPr id="46" name="图片 45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56370" y="2002155"/>
            <a:ext cx="430530" cy="430530"/>
          </a:xfrm>
          <a:prstGeom prst="rect">
            <a:avLst/>
          </a:prstGeom>
        </p:spPr>
      </p:pic>
      <p:pic>
        <p:nvPicPr>
          <p:cNvPr id="47" name="图片 46" descr="molecule nod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21700" y="1436370"/>
            <a:ext cx="430530" cy="430530"/>
          </a:xfrm>
          <a:prstGeom prst="rect">
            <a:avLst/>
          </a:prstGeom>
        </p:spPr>
      </p:pic>
      <p:pic>
        <p:nvPicPr>
          <p:cNvPr id="48" name="图片 47" descr="molecule nod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527540" y="1467485"/>
            <a:ext cx="430530" cy="430530"/>
          </a:xfrm>
          <a:prstGeom prst="rect">
            <a:avLst/>
          </a:prstGeom>
        </p:spPr>
      </p:pic>
      <p:pic>
        <p:nvPicPr>
          <p:cNvPr id="49" name="图片 48" descr="target nod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743825" y="902335"/>
            <a:ext cx="431165" cy="431165"/>
          </a:xfrm>
          <a:prstGeom prst="rect">
            <a:avLst/>
          </a:prstGeom>
        </p:spPr>
      </p:pic>
      <p:pic>
        <p:nvPicPr>
          <p:cNvPr id="50" name="图片 49" descr="disease nod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82280" y="147955"/>
            <a:ext cx="431165" cy="431165"/>
          </a:xfrm>
          <a:prstGeom prst="rect">
            <a:avLst/>
          </a:prstGeom>
        </p:spPr>
      </p:pic>
      <p:cxnSp>
        <p:nvCxnSpPr>
          <p:cNvPr id="51" name="直接连接符 50"/>
          <p:cNvCxnSpPr>
            <a:endCxn id="44" idx="1"/>
          </p:cNvCxnSpPr>
          <p:nvPr/>
        </p:nvCxnSpPr>
        <p:spPr>
          <a:xfrm flipV="1">
            <a:off x="8496935" y="236855"/>
            <a:ext cx="905510" cy="8128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2" name="直接连接符 51"/>
          <p:cNvCxnSpPr>
            <a:cxnSpLocks/>
          </p:cNvCxnSpPr>
          <p:nvPr/>
        </p:nvCxnSpPr>
        <p:spPr>
          <a:xfrm flipH="1">
            <a:off x="8035290" y="552450"/>
            <a:ext cx="165735" cy="36322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3" name="直接连接符 52"/>
          <p:cNvCxnSpPr/>
          <p:nvPr/>
        </p:nvCxnSpPr>
        <p:spPr>
          <a:xfrm>
            <a:off x="8118475" y="1243965"/>
            <a:ext cx="437515" cy="30480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4" name="直接连接符 53"/>
          <p:cNvCxnSpPr/>
          <p:nvPr/>
        </p:nvCxnSpPr>
        <p:spPr>
          <a:xfrm flipV="1">
            <a:off x="8813165" y="1088390"/>
            <a:ext cx="155575" cy="367665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5" name="直接连接符 54"/>
          <p:cNvCxnSpPr/>
          <p:nvPr/>
        </p:nvCxnSpPr>
        <p:spPr>
          <a:xfrm>
            <a:off x="9185910" y="1056005"/>
            <a:ext cx="419100" cy="469265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6" name="直接连接符 55"/>
          <p:cNvCxnSpPr/>
          <p:nvPr/>
        </p:nvCxnSpPr>
        <p:spPr>
          <a:xfrm>
            <a:off x="8866505" y="1811020"/>
            <a:ext cx="250825" cy="25654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7" name="直接连接符 56"/>
          <p:cNvCxnSpPr/>
          <p:nvPr/>
        </p:nvCxnSpPr>
        <p:spPr>
          <a:xfrm flipV="1">
            <a:off x="9415145" y="1851660"/>
            <a:ext cx="207645" cy="21590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8" name="直接连接符 57"/>
          <p:cNvCxnSpPr>
            <a:stCxn id="48" idx="0"/>
            <a:endCxn id="44" idx="2"/>
          </p:cNvCxnSpPr>
          <p:nvPr/>
        </p:nvCxnSpPr>
        <p:spPr>
          <a:xfrm flipH="1" flipV="1">
            <a:off x="9617710" y="452755"/>
            <a:ext cx="125095" cy="101473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59" name="直接连接符 58"/>
          <p:cNvCxnSpPr/>
          <p:nvPr/>
        </p:nvCxnSpPr>
        <p:spPr>
          <a:xfrm flipH="1" flipV="1">
            <a:off x="9756775" y="382905"/>
            <a:ext cx="421640" cy="65278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dash"/>
          </a:ln>
          <a:effectLst/>
        </p:spPr>
      </p:cxnSp>
      <p:cxnSp>
        <p:nvCxnSpPr>
          <p:cNvPr id="60" name="直接连接符 59"/>
          <p:cNvCxnSpPr/>
          <p:nvPr/>
        </p:nvCxnSpPr>
        <p:spPr>
          <a:xfrm flipH="1" flipV="1">
            <a:off x="10323830" y="1436370"/>
            <a:ext cx="81915" cy="56896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dash"/>
          </a:ln>
          <a:effectLst/>
        </p:spPr>
      </p:cxnSp>
      <p:cxnSp>
        <p:nvCxnSpPr>
          <p:cNvPr id="61" name="直接连接符 60"/>
          <p:cNvCxnSpPr>
            <a:endCxn id="4" idx="1"/>
          </p:cNvCxnSpPr>
          <p:nvPr/>
        </p:nvCxnSpPr>
        <p:spPr>
          <a:xfrm>
            <a:off x="9476105" y="2207895"/>
            <a:ext cx="742315" cy="9525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dash"/>
          </a:ln>
          <a:effectLst/>
        </p:spPr>
      </p:cxnSp>
      <p:cxnSp>
        <p:nvCxnSpPr>
          <p:cNvPr id="62" name="直接连接符 61"/>
          <p:cNvCxnSpPr/>
          <p:nvPr/>
        </p:nvCxnSpPr>
        <p:spPr>
          <a:xfrm flipV="1">
            <a:off x="8158480" y="2550160"/>
            <a:ext cx="502285" cy="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sp>
        <p:nvSpPr>
          <p:cNvPr id="63" name="文本框 62"/>
          <p:cNvSpPr txBox="1"/>
          <p:nvPr/>
        </p:nvSpPr>
        <p:spPr>
          <a:xfrm>
            <a:off x="8717915" y="2428240"/>
            <a:ext cx="2612390" cy="238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5" b="1" dirty="0">
                <a:latin typeface="微软雅黑 Light" panose="020B0502040204020203" charset="-122"/>
                <a:ea typeface="微软雅黑 Light" panose="020B0502040204020203" charset="-122"/>
              </a:rPr>
              <a:t>Known Node and </a:t>
            </a:r>
            <a:r>
              <a:rPr lang="en-US" altLang="zh-CN" sz="955" b="1" dirty="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Known </a:t>
            </a:r>
            <a:r>
              <a:rPr lang="en-US" altLang="zh-CN" sz="955" b="1" dirty="0">
                <a:latin typeface="微软雅黑 Light" panose="020B0502040204020203" charset="-122"/>
                <a:ea typeface="微软雅黑 Light" panose="020B0502040204020203" charset="-122"/>
              </a:rPr>
              <a:t>Link</a:t>
            </a:r>
          </a:p>
        </p:txBody>
      </p:sp>
      <p:cxnSp>
        <p:nvCxnSpPr>
          <p:cNvPr id="64" name="直接连接符 63"/>
          <p:cNvCxnSpPr/>
          <p:nvPr/>
        </p:nvCxnSpPr>
        <p:spPr>
          <a:xfrm flipV="1">
            <a:off x="8158480" y="2710180"/>
            <a:ext cx="502285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dash"/>
          </a:ln>
          <a:effectLst/>
        </p:spPr>
      </p:cxnSp>
      <p:sp>
        <p:nvSpPr>
          <p:cNvPr id="65" name="文本框 64"/>
          <p:cNvSpPr txBox="1"/>
          <p:nvPr/>
        </p:nvSpPr>
        <p:spPr>
          <a:xfrm>
            <a:off x="8717915" y="2583180"/>
            <a:ext cx="2850515" cy="238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5" b="1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Unknown Node and Semi-Inductive Link</a:t>
            </a:r>
            <a:endParaRPr lang="en-US" altLang="zh-CN" sz="955" b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cxnSp>
        <p:nvCxnSpPr>
          <p:cNvPr id="66" name="直接连接符 65"/>
          <p:cNvCxnSpPr/>
          <p:nvPr/>
        </p:nvCxnSpPr>
        <p:spPr>
          <a:xfrm flipV="1">
            <a:off x="8159115" y="2869565"/>
            <a:ext cx="502285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dash"/>
          </a:ln>
          <a:effectLst/>
        </p:spPr>
      </p:cxnSp>
      <p:sp>
        <p:nvSpPr>
          <p:cNvPr id="67" name="文本框 66"/>
          <p:cNvSpPr txBox="1"/>
          <p:nvPr/>
        </p:nvSpPr>
        <p:spPr>
          <a:xfrm>
            <a:off x="8717915" y="2747010"/>
            <a:ext cx="2842895" cy="238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5" b="1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Unknown Node and Fully-Inductive Link</a:t>
            </a:r>
            <a:endParaRPr lang="en-US" altLang="zh-CN" sz="955" b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68" name="右箭头 67"/>
          <p:cNvSpPr/>
          <p:nvPr/>
        </p:nvSpPr>
        <p:spPr>
          <a:xfrm rot="5880000">
            <a:off x="10191750" y="671830"/>
            <a:ext cx="317500" cy="220345"/>
          </a:xfrm>
          <a:prstGeom prst="rightArrow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955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0055860" y="361682"/>
            <a:ext cx="1530985" cy="239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5" b="1" dirty="0"/>
              <a:t>New Herb</a:t>
            </a:r>
          </a:p>
        </p:txBody>
      </p:sp>
      <p:sp>
        <p:nvSpPr>
          <p:cNvPr id="70" name="右箭头 69"/>
          <p:cNvSpPr/>
          <p:nvPr/>
        </p:nvSpPr>
        <p:spPr>
          <a:xfrm rot="6480000">
            <a:off x="10494010" y="1677035"/>
            <a:ext cx="317500" cy="220345"/>
          </a:xfrm>
          <a:prstGeom prst="rightArrow">
            <a:avLst/>
          </a:prstGeom>
          <a:solidFill>
            <a:srgbClr val="FFFFFF">
              <a:lumMod val="95000"/>
            </a:srgbClr>
          </a:solidFill>
          <a:ln w="25400" cap="flat" cmpd="sng" algn="ctr">
            <a:solidFill>
              <a:srgbClr val="000000"/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 sz="955">
              <a:solidFill>
                <a:srgbClr val="FFFF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0440035" y="1357630"/>
            <a:ext cx="972185" cy="257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55" b="1"/>
              <a:t>New Target </a:t>
            </a:r>
          </a:p>
        </p:txBody>
      </p:sp>
      <p:pic>
        <p:nvPicPr>
          <p:cNvPr id="72" name="图片 71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995920" y="1938655"/>
            <a:ext cx="430530" cy="430530"/>
          </a:xfrm>
          <a:prstGeom prst="rect">
            <a:avLst/>
          </a:prstGeom>
        </p:spPr>
      </p:pic>
      <p:cxnSp>
        <p:nvCxnSpPr>
          <p:cNvPr id="73" name="直接连接符 72"/>
          <p:cNvCxnSpPr/>
          <p:nvPr/>
        </p:nvCxnSpPr>
        <p:spPr>
          <a:xfrm>
            <a:off x="7997190" y="1324610"/>
            <a:ext cx="175895" cy="612140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cxnSp>
        <p:nvCxnSpPr>
          <p:cNvPr id="74" name="直接连接符 73"/>
          <p:cNvCxnSpPr/>
          <p:nvPr/>
        </p:nvCxnSpPr>
        <p:spPr>
          <a:xfrm flipH="1">
            <a:off x="8353425" y="1777365"/>
            <a:ext cx="217805" cy="217805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pic>
        <p:nvPicPr>
          <p:cNvPr id="75" name="图片 74" descr="问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91700" y="760095"/>
            <a:ext cx="175895" cy="175895"/>
          </a:xfrm>
          <a:prstGeom prst="rect">
            <a:avLst/>
          </a:prstGeom>
        </p:spPr>
      </p:pic>
      <p:pic>
        <p:nvPicPr>
          <p:cNvPr id="78" name="图片 77" descr="问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139045" y="1601470"/>
            <a:ext cx="175895" cy="175895"/>
          </a:xfrm>
          <a:prstGeom prst="rect">
            <a:avLst/>
          </a:prstGeom>
        </p:spPr>
      </p:pic>
      <p:pic>
        <p:nvPicPr>
          <p:cNvPr id="79" name="图片 78" descr="问号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791700" y="1972310"/>
            <a:ext cx="175895" cy="175895"/>
          </a:xfrm>
          <a:prstGeom prst="rect">
            <a:avLst/>
          </a:prstGeom>
        </p:spPr>
      </p:pic>
      <p:cxnSp>
        <p:nvCxnSpPr>
          <p:cNvPr id="80" name="直接连接符 79"/>
          <p:cNvCxnSpPr/>
          <p:nvPr/>
        </p:nvCxnSpPr>
        <p:spPr>
          <a:xfrm flipV="1">
            <a:off x="9180195" y="392430"/>
            <a:ext cx="286385" cy="343535"/>
          </a:xfrm>
          <a:prstGeom prst="line">
            <a:avLst/>
          </a:prstGeom>
          <a:noFill/>
          <a:ln w="28575" cap="flat" cmpd="sng" algn="ctr">
            <a:solidFill>
              <a:srgbClr val="002060"/>
            </a:solidFill>
            <a:prstDash val="solid"/>
          </a:ln>
          <a:effectLst/>
        </p:spPr>
      </p:cxnSp>
      <p:pic>
        <p:nvPicPr>
          <p:cNvPr id="125" name="图片 124" descr="molecule node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669790" y="447675"/>
            <a:ext cx="432000" cy="432000"/>
          </a:xfrm>
          <a:prstGeom prst="rect">
            <a:avLst/>
          </a:prstGeom>
        </p:spPr>
      </p:pic>
      <p:pic>
        <p:nvPicPr>
          <p:cNvPr id="126" name="图片 125" descr="disease nod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6817360" y="447358"/>
            <a:ext cx="432000" cy="432000"/>
          </a:xfrm>
          <a:prstGeom prst="rect">
            <a:avLst/>
          </a:prstGeom>
        </p:spPr>
      </p:pic>
      <p:pic>
        <p:nvPicPr>
          <p:cNvPr id="127" name="图片 126" descr="herb node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3596005" y="444500"/>
            <a:ext cx="432000" cy="432000"/>
          </a:xfrm>
          <a:prstGeom prst="rect">
            <a:avLst/>
          </a:prstGeom>
        </p:spPr>
      </p:pic>
      <p:pic>
        <p:nvPicPr>
          <p:cNvPr id="128" name="图片 127" descr="target node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5743575" y="444183"/>
            <a:ext cx="432000" cy="432000"/>
          </a:xfrm>
          <a:prstGeom prst="rect">
            <a:avLst/>
          </a:prstGeom>
        </p:spPr>
      </p:pic>
      <p:cxnSp>
        <p:nvCxnSpPr>
          <p:cNvPr id="129" name="直接连接符 128"/>
          <p:cNvCxnSpPr>
            <a:stCxn id="127" idx="2"/>
          </p:cNvCxnSpPr>
          <p:nvPr/>
        </p:nvCxnSpPr>
        <p:spPr>
          <a:xfrm>
            <a:off x="3811905" y="876300"/>
            <a:ext cx="3810" cy="180000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0" name="圆角矩形 129"/>
          <p:cNvSpPr/>
          <p:nvPr/>
        </p:nvSpPr>
        <p:spPr>
          <a:xfrm>
            <a:off x="3379470" y="1056005"/>
            <a:ext cx="864235" cy="1205230"/>
          </a:xfrm>
          <a:prstGeom prst="roundRect">
            <a:avLst>
              <a:gd name="adj" fmla="val 19329"/>
            </a:avLst>
          </a:prstGeom>
          <a:solidFill>
            <a:schemeClr val="bg1"/>
          </a:solidFill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1" name="直接连接符 130"/>
          <p:cNvCxnSpPr/>
          <p:nvPr/>
        </p:nvCxnSpPr>
        <p:spPr>
          <a:xfrm>
            <a:off x="4885690" y="876300"/>
            <a:ext cx="3810" cy="180000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2" name="圆角矩形 131"/>
          <p:cNvSpPr/>
          <p:nvPr/>
        </p:nvSpPr>
        <p:spPr>
          <a:xfrm>
            <a:off x="4453255" y="1056005"/>
            <a:ext cx="864235" cy="1674495"/>
          </a:xfrm>
          <a:prstGeom prst="roundRect">
            <a:avLst>
              <a:gd name="adj" fmla="val 19329"/>
            </a:avLst>
          </a:prstGeom>
          <a:solidFill>
            <a:schemeClr val="bg1"/>
          </a:solidFill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3" name="直接连接符 132"/>
          <p:cNvCxnSpPr/>
          <p:nvPr/>
        </p:nvCxnSpPr>
        <p:spPr>
          <a:xfrm>
            <a:off x="5959475" y="876300"/>
            <a:ext cx="3810" cy="180000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4" name="圆角矩形 133"/>
          <p:cNvSpPr/>
          <p:nvPr/>
        </p:nvSpPr>
        <p:spPr>
          <a:xfrm>
            <a:off x="5527040" y="1056005"/>
            <a:ext cx="864235" cy="1409700"/>
          </a:xfrm>
          <a:prstGeom prst="roundRect">
            <a:avLst>
              <a:gd name="adj" fmla="val 19329"/>
            </a:avLst>
          </a:prstGeom>
          <a:solidFill>
            <a:schemeClr val="bg1"/>
          </a:solidFill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/>
          <p:cNvCxnSpPr/>
          <p:nvPr/>
        </p:nvCxnSpPr>
        <p:spPr>
          <a:xfrm>
            <a:off x="7033260" y="876300"/>
            <a:ext cx="3810" cy="180000"/>
          </a:xfrm>
          <a:prstGeom prst="line">
            <a:avLst/>
          </a:prstGeom>
          <a:ln>
            <a:solidFill>
              <a:srgbClr val="002060"/>
            </a:solidFill>
            <a:prstDash val="dash"/>
            <a:headEnd type="oval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圆角矩形 135"/>
          <p:cNvSpPr/>
          <p:nvPr/>
        </p:nvSpPr>
        <p:spPr>
          <a:xfrm>
            <a:off x="6600825" y="1056005"/>
            <a:ext cx="864235" cy="1082040"/>
          </a:xfrm>
          <a:prstGeom prst="roundRect">
            <a:avLst>
              <a:gd name="adj" fmla="val 19329"/>
            </a:avLst>
          </a:prstGeom>
          <a:solidFill>
            <a:schemeClr val="bg1"/>
          </a:solidFill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/>
        </p:nvSpPr>
        <p:spPr>
          <a:xfrm>
            <a:off x="3384150" y="1060906"/>
            <a:ext cx="86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solidFill>
                  <a:srgbClr val="00B050"/>
                </a:solidFill>
                <a:latin typeface="微软雅黑 Light" panose="020B0502040204020203" charset="-122"/>
                <a:ea typeface="微软雅黑 Light" panose="020B0502040204020203" charset="-122"/>
              </a:rPr>
              <a:t>Herb</a:t>
            </a:r>
            <a:endParaRPr lang="en-US" altLang="zh-CN" sz="1200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/>
            <a:r>
              <a:rPr lang="en-US" altLang="zh-CN" sz="1200" b="1" dirty="0">
                <a:latin typeface="微软雅黑 Light" panose="020B0502040204020203" charset="-122"/>
                <a:ea typeface="微软雅黑 Light" panose="020B0502040204020203" charset="-122"/>
              </a:rPr>
              <a:t>Feature</a:t>
            </a:r>
            <a:endParaRPr lang="en-US" altLang="zh-CN" sz="1200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/>
            <a:r>
              <a:rPr lang="en-US" altLang="zh-CN" sz="800" dirty="0">
                <a:latin typeface="微软雅黑 Light" panose="020B0502040204020203" charset="-122"/>
                <a:ea typeface="微软雅黑 Light" panose="020B0502040204020203" charset="-122"/>
              </a:rPr>
              <a:t>One-hot encoding of therapeutic functions and pharmacological effects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4453255" y="1062355"/>
            <a:ext cx="864870" cy="1320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accent2">
                    <a:lumMod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Molecule</a:t>
            </a:r>
            <a:r>
              <a:rPr lang="en-US" altLang="zh-CN" sz="1200" b="1" dirty="0">
                <a:latin typeface="微软雅黑 Light" panose="020B0502040204020203" charset="-122"/>
                <a:ea typeface="微软雅黑 Light" panose="020B0502040204020203" charset="-122"/>
              </a:rPr>
              <a:t>Feature</a:t>
            </a:r>
          </a:p>
          <a:p>
            <a:pPr algn="ctr"/>
            <a:r>
              <a:rPr lang="en-US" altLang="zh-CN" sz="800" dirty="0">
                <a:latin typeface="微软雅黑 Light" panose="020B0502040204020203" charset="-122"/>
                <a:ea typeface="微软雅黑 Light" panose="020B0502040204020203" charset="-122"/>
              </a:rPr>
              <a:t>166 structural public keys generated by the Molecular Access System, represented in Simplified Molecular Input Line Entry System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5527040" y="1056005"/>
            <a:ext cx="864870" cy="1033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 dirty="0">
                <a:solidFill>
                  <a:srgbClr val="0070C0"/>
                </a:solidFill>
                <a:latin typeface="微软雅黑 Light" panose="020B0502040204020203" charset="-122"/>
                <a:ea typeface="微软雅黑 Light" panose="020B0502040204020203" charset="-122"/>
              </a:rPr>
              <a:t>Target</a:t>
            </a:r>
            <a:endParaRPr lang="en-US" altLang="zh-CN" sz="1200" b="1" dirty="0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/>
            <a:r>
              <a:rPr lang="en-US" altLang="zh-CN" sz="1200" b="1" dirty="0">
                <a:latin typeface="微软雅黑 Light" panose="020B0502040204020203" charset="-122"/>
                <a:ea typeface="微软雅黑 Light" panose="020B0502040204020203" charset="-122"/>
              </a:rPr>
              <a:t>Feature</a:t>
            </a:r>
          </a:p>
          <a:p>
            <a:pPr algn="ctr"/>
            <a:r>
              <a:rPr lang="en-US" altLang="zh-CN" sz="800" dirty="0">
                <a:latin typeface="微软雅黑 Light" panose="020B0502040204020203" charset="-122"/>
                <a:ea typeface="微软雅黑 Light" panose="020B0502040204020203" charset="-122"/>
              </a:rPr>
              <a:t>Amino acid sequences represented as ASCII strings can be used to represent each target protein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6600190" y="1056005"/>
            <a:ext cx="864870" cy="870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</a:rPr>
              <a:t>Disease</a:t>
            </a:r>
            <a:endParaRPr lang="en-US" altLang="zh-CN" sz="1200" b="1">
              <a:latin typeface="微软雅黑 Light" panose="020B0502040204020203" charset="-122"/>
              <a:ea typeface="微软雅黑 Light" panose="020B0502040204020203" charset="-122"/>
            </a:endParaRPr>
          </a:p>
          <a:p>
            <a:pPr algn="ctr"/>
            <a:r>
              <a:rPr lang="en-US" altLang="zh-CN" sz="1200" b="1">
                <a:latin typeface="微软雅黑 Light" panose="020B0502040204020203" charset="-122"/>
                <a:ea typeface="微软雅黑 Light" panose="020B0502040204020203" charset="-122"/>
              </a:rPr>
              <a:t>Feature</a:t>
            </a:r>
          </a:p>
          <a:p>
            <a:pPr algn="ctr"/>
            <a:r>
              <a:rPr lang="en-US" altLang="zh-CN" sz="800">
                <a:latin typeface="微软雅黑 Light" panose="020B0502040204020203" charset="-122"/>
                <a:ea typeface="微软雅黑 Light" panose="020B0502040204020203" charset="-122"/>
              </a:rPr>
              <a:t>One-hot </a:t>
            </a:r>
            <a:r>
              <a:rPr lang="en-US" altLang="zh-CN" sz="800">
                <a:latin typeface="微软雅黑 Light" panose="020B0502040204020203" charset="-122"/>
                <a:ea typeface="微软雅黑 Light" panose="020B0502040204020203" charset="-122"/>
                <a:sym typeface="+mn-ea"/>
              </a:rPr>
              <a:t>encoding of</a:t>
            </a:r>
            <a:r>
              <a:rPr lang="en-US" altLang="zh-CN" sz="800">
                <a:latin typeface="微软雅黑 Light" panose="020B0502040204020203" charset="-122"/>
                <a:ea typeface="微软雅黑 Light" panose="020B0502040204020203" charset="-122"/>
              </a:rPr>
              <a:t> International Classification of Diseases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4596130" y="2994978"/>
            <a:ext cx="1579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/>
              <a:t>(B) Network Schema</a:t>
            </a:r>
          </a:p>
        </p:txBody>
      </p:sp>
      <p:cxnSp>
        <p:nvCxnSpPr>
          <p:cNvPr id="5" name="直接连接符 4"/>
          <p:cNvCxnSpPr>
            <a:stCxn id="128" idx="3"/>
            <a:endCxn id="126" idx="1"/>
          </p:cNvCxnSpPr>
          <p:nvPr/>
        </p:nvCxnSpPr>
        <p:spPr>
          <a:xfrm>
            <a:off x="6175375" y="660400"/>
            <a:ext cx="641985" cy="3175"/>
          </a:xfrm>
          <a:prstGeom prst="line">
            <a:avLst/>
          </a:prstGeom>
          <a:ln w="25400" cmpd="dbl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>
            <a:stCxn id="125" idx="3"/>
            <a:endCxn id="128" idx="1"/>
          </p:cNvCxnSpPr>
          <p:nvPr/>
        </p:nvCxnSpPr>
        <p:spPr>
          <a:xfrm flipV="1">
            <a:off x="5101590" y="660400"/>
            <a:ext cx="641985" cy="3175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127" idx="3"/>
            <a:endCxn id="125" idx="1"/>
          </p:cNvCxnSpPr>
          <p:nvPr/>
        </p:nvCxnSpPr>
        <p:spPr>
          <a:xfrm>
            <a:off x="4027805" y="660400"/>
            <a:ext cx="641985" cy="317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肘形连接符 7"/>
          <p:cNvCxnSpPr/>
          <p:nvPr/>
        </p:nvCxnSpPr>
        <p:spPr>
          <a:xfrm rot="5400000" flipV="1">
            <a:off x="4886960" y="-628015"/>
            <a:ext cx="3175" cy="2145030"/>
          </a:xfrm>
          <a:prstGeom prst="bentConnector3">
            <a:avLst>
              <a:gd name="adj1" fmla="val -9290000"/>
            </a:avLst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8435339" y="2982595"/>
            <a:ext cx="21672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/>
              <a:t>(C) Inductive Link Prediction</a:t>
            </a:r>
          </a:p>
        </p:txBody>
      </p:sp>
      <p:pic>
        <p:nvPicPr>
          <p:cNvPr id="12" name="图片 11" descr="target nod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33600" y="21590"/>
            <a:ext cx="431165" cy="431165"/>
          </a:xfrm>
          <a:prstGeom prst="rect">
            <a:avLst/>
          </a:prstGeom>
        </p:spPr>
      </p:pic>
      <p:pic>
        <p:nvPicPr>
          <p:cNvPr id="13" name="图片 12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567815" y="681990"/>
            <a:ext cx="431165" cy="431165"/>
          </a:xfrm>
          <a:prstGeom prst="rect">
            <a:avLst/>
          </a:prstGeom>
        </p:spPr>
      </p:pic>
      <p:pic>
        <p:nvPicPr>
          <p:cNvPr id="14" name="图片 13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87525" y="2002155"/>
            <a:ext cx="430530" cy="430530"/>
          </a:xfrm>
          <a:prstGeom prst="rect">
            <a:avLst/>
          </a:prstGeom>
        </p:spPr>
      </p:pic>
      <p:pic>
        <p:nvPicPr>
          <p:cNvPr id="15" name="图片 14" descr="molecule nod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52855" y="1436370"/>
            <a:ext cx="430530" cy="430530"/>
          </a:xfrm>
          <a:prstGeom prst="rect">
            <a:avLst/>
          </a:prstGeom>
        </p:spPr>
      </p:pic>
      <p:pic>
        <p:nvPicPr>
          <p:cNvPr id="16" name="图片 15" descr="molecule nod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58695" y="1467485"/>
            <a:ext cx="430530" cy="430530"/>
          </a:xfrm>
          <a:prstGeom prst="rect">
            <a:avLst/>
          </a:prstGeom>
        </p:spPr>
      </p:pic>
      <p:pic>
        <p:nvPicPr>
          <p:cNvPr id="17" name="图片 16" descr="target nod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4980" y="902335"/>
            <a:ext cx="431165" cy="431165"/>
          </a:xfrm>
          <a:prstGeom prst="rect">
            <a:avLst/>
          </a:prstGeom>
        </p:spPr>
      </p:pic>
      <p:pic>
        <p:nvPicPr>
          <p:cNvPr id="18" name="图片 17" descr="disease nod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3435" y="147955"/>
            <a:ext cx="431165" cy="431165"/>
          </a:xfrm>
          <a:prstGeom prst="rect">
            <a:avLst/>
          </a:prstGeom>
        </p:spPr>
      </p:pic>
      <p:cxnSp>
        <p:nvCxnSpPr>
          <p:cNvPr id="19" name="直接连接符 18"/>
          <p:cNvCxnSpPr>
            <a:endCxn id="12" idx="1"/>
          </p:cNvCxnSpPr>
          <p:nvPr/>
        </p:nvCxnSpPr>
        <p:spPr>
          <a:xfrm flipV="1">
            <a:off x="1228090" y="237490"/>
            <a:ext cx="905510" cy="81280"/>
          </a:xfrm>
          <a:prstGeom prst="line">
            <a:avLst/>
          </a:prstGeom>
          <a:ln w="25400" cmpd="dbl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849630" y="1243965"/>
            <a:ext cx="437515" cy="30480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544320" y="1088390"/>
            <a:ext cx="155575" cy="36766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917065" y="1056005"/>
            <a:ext cx="419100" cy="46926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597660" y="1811020"/>
            <a:ext cx="250825" cy="25654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146300" y="1851660"/>
            <a:ext cx="207645" cy="215900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>
            <a:stCxn id="16" idx="0"/>
            <a:endCxn id="12" idx="2"/>
          </p:cNvCxnSpPr>
          <p:nvPr/>
        </p:nvCxnSpPr>
        <p:spPr>
          <a:xfrm flipH="1" flipV="1">
            <a:off x="2349500" y="452755"/>
            <a:ext cx="124460" cy="101473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0" name="图片 39" descr="herb nod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7075" y="1938655"/>
            <a:ext cx="430530" cy="430530"/>
          </a:xfrm>
          <a:prstGeom prst="rect">
            <a:avLst/>
          </a:prstGeom>
        </p:spPr>
      </p:pic>
      <p:cxnSp>
        <p:nvCxnSpPr>
          <p:cNvPr id="41" name="直接连接符 40"/>
          <p:cNvCxnSpPr/>
          <p:nvPr/>
        </p:nvCxnSpPr>
        <p:spPr>
          <a:xfrm>
            <a:off x="728345" y="1324610"/>
            <a:ext cx="175895" cy="6121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 flipH="1">
            <a:off x="1084580" y="1777365"/>
            <a:ext cx="217805" cy="217805"/>
          </a:xfrm>
          <a:prstGeom prst="line">
            <a:avLst/>
          </a:prstGeom>
          <a:ln w="2540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 flipV="1">
            <a:off x="1911350" y="392430"/>
            <a:ext cx="286385" cy="34353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725804" y="2994343"/>
            <a:ext cx="1579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/>
              <a:t>(A) TTHIN</a:t>
            </a:r>
          </a:p>
        </p:txBody>
      </p:sp>
      <p:pic>
        <p:nvPicPr>
          <p:cNvPr id="87" name="图片 86" descr="herb node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6515" y="2452370"/>
            <a:ext cx="258445" cy="258445"/>
          </a:xfrm>
          <a:prstGeom prst="rect">
            <a:avLst/>
          </a:prstGeom>
        </p:spPr>
      </p:pic>
      <p:pic>
        <p:nvPicPr>
          <p:cNvPr id="88" name="图片 87" descr="molecule nod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64185" y="2760345"/>
            <a:ext cx="258445" cy="258445"/>
          </a:xfrm>
          <a:prstGeom prst="rect">
            <a:avLst/>
          </a:prstGeom>
        </p:spPr>
      </p:pic>
      <p:pic>
        <p:nvPicPr>
          <p:cNvPr id="89" name="图片 88" descr="target node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66725" y="2452370"/>
            <a:ext cx="258445" cy="258445"/>
          </a:xfrm>
          <a:prstGeom prst="rect">
            <a:avLst/>
          </a:prstGeom>
        </p:spPr>
      </p:pic>
      <p:pic>
        <p:nvPicPr>
          <p:cNvPr id="90" name="图片 89" descr="disease node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2260600" y="2761615"/>
            <a:ext cx="258445" cy="258445"/>
          </a:xfrm>
          <a:prstGeom prst="rect">
            <a:avLst/>
          </a:prstGeom>
        </p:spPr>
      </p:pic>
      <p:sp>
        <p:nvSpPr>
          <p:cNvPr id="91" name="文本框 90"/>
          <p:cNvSpPr txBox="1"/>
          <p:nvPr>
            <p:custDataLst>
              <p:tags r:id="rId10"/>
            </p:custDataLst>
          </p:nvPr>
        </p:nvSpPr>
        <p:spPr>
          <a:xfrm>
            <a:off x="685800" y="2429510"/>
            <a:ext cx="1062990" cy="3041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800"/>
              <a:t>Herb - Target</a:t>
            </a:r>
          </a:p>
        </p:txBody>
      </p:sp>
      <p:cxnSp>
        <p:nvCxnSpPr>
          <p:cNvPr id="92" name="直接连接符 91"/>
          <p:cNvCxnSpPr>
            <a:stCxn id="87" idx="3"/>
            <a:endCxn id="89" idx="1"/>
          </p:cNvCxnSpPr>
          <p:nvPr>
            <p:custDataLst>
              <p:tags r:id="rId11"/>
            </p:custDataLst>
          </p:nvPr>
        </p:nvCxnSpPr>
        <p:spPr>
          <a:xfrm>
            <a:off x="314960" y="2581275"/>
            <a:ext cx="151765" cy="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3" name="图片 92" descr="herb node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56515" y="2760345"/>
            <a:ext cx="258445" cy="258445"/>
          </a:xfrm>
          <a:prstGeom prst="rect">
            <a:avLst/>
          </a:prstGeom>
        </p:spPr>
      </p:pic>
      <p:pic>
        <p:nvPicPr>
          <p:cNvPr id="103" name="图片 102" descr="molecule node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850390" y="2452370"/>
            <a:ext cx="258445" cy="258445"/>
          </a:xfrm>
          <a:prstGeom prst="rect">
            <a:avLst/>
          </a:prstGeom>
        </p:spPr>
      </p:pic>
      <p:pic>
        <p:nvPicPr>
          <p:cNvPr id="104" name="图片 103" descr="target node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2260600" y="2452370"/>
            <a:ext cx="258445" cy="258445"/>
          </a:xfrm>
          <a:prstGeom prst="rect">
            <a:avLst/>
          </a:prstGeom>
        </p:spPr>
      </p:pic>
      <p:cxnSp>
        <p:nvCxnSpPr>
          <p:cNvPr id="105" name="直接连接符 104"/>
          <p:cNvCxnSpPr>
            <a:stCxn id="103" idx="3"/>
            <a:endCxn id="104" idx="1"/>
          </p:cNvCxnSpPr>
          <p:nvPr>
            <p:custDataLst>
              <p:tags r:id="rId15"/>
            </p:custDataLst>
          </p:nvPr>
        </p:nvCxnSpPr>
        <p:spPr>
          <a:xfrm>
            <a:off x="2108835" y="2581910"/>
            <a:ext cx="151765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6" name="图片 105" descr="target node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850390" y="2759710"/>
            <a:ext cx="258445" cy="258445"/>
          </a:xfrm>
          <a:prstGeom prst="rect">
            <a:avLst/>
          </a:prstGeom>
        </p:spPr>
      </p:pic>
      <p:cxnSp>
        <p:nvCxnSpPr>
          <p:cNvPr id="107" name="直接连接符 106"/>
          <p:cNvCxnSpPr>
            <a:stCxn id="106" idx="3"/>
            <a:endCxn id="90" idx="1"/>
          </p:cNvCxnSpPr>
          <p:nvPr>
            <p:custDataLst>
              <p:tags r:id="rId17"/>
            </p:custDataLst>
          </p:nvPr>
        </p:nvCxnSpPr>
        <p:spPr>
          <a:xfrm>
            <a:off x="2108835" y="2889250"/>
            <a:ext cx="151765" cy="0"/>
          </a:xfrm>
          <a:prstGeom prst="line">
            <a:avLst/>
          </a:prstGeom>
          <a:ln w="25400" cmpd="dbl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8" name="文本框 107"/>
          <p:cNvSpPr txBox="1"/>
          <p:nvPr>
            <p:custDataLst>
              <p:tags r:id="rId18"/>
            </p:custDataLst>
          </p:nvPr>
        </p:nvSpPr>
        <p:spPr>
          <a:xfrm>
            <a:off x="685800" y="2737485"/>
            <a:ext cx="1139825" cy="3041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800"/>
              <a:t>Herb - Molecule</a:t>
            </a:r>
          </a:p>
        </p:txBody>
      </p:sp>
      <p:sp>
        <p:nvSpPr>
          <p:cNvPr id="137" name="文本框 136"/>
          <p:cNvSpPr txBox="1"/>
          <p:nvPr>
            <p:custDataLst>
              <p:tags r:id="rId19"/>
            </p:custDataLst>
          </p:nvPr>
        </p:nvSpPr>
        <p:spPr>
          <a:xfrm>
            <a:off x="2492375" y="2432050"/>
            <a:ext cx="1254125" cy="3041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800"/>
              <a:t>Molecule - Target</a:t>
            </a:r>
          </a:p>
        </p:txBody>
      </p:sp>
      <p:sp>
        <p:nvSpPr>
          <p:cNvPr id="138" name="文本框 137"/>
          <p:cNvSpPr txBox="1"/>
          <p:nvPr>
            <p:custDataLst>
              <p:tags r:id="rId20"/>
            </p:custDataLst>
          </p:nvPr>
        </p:nvSpPr>
        <p:spPr>
          <a:xfrm>
            <a:off x="2492375" y="2746375"/>
            <a:ext cx="1254125" cy="30416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r>
              <a:rPr lang="en-US" altLang="zh-CN" sz="800"/>
              <a:t>Target - Disease</a:t>
            </a:r>
          </a:p>
        </p:txBody>
      </p:sp>
      <p:cxnSp>
        <p:nvCxnSpPr>
          <p:cNvPr id="139" name="直接连接符 138"/>
          <p:cNvCxnSpPr>
            <a:stCxn id="93" idx="3"/>
            <a:endCxn id="88" idx="1"/>
          </p:cNvCxnSpPr>
          <p:nvPr>
            <p:custDataLst>
              <p:tags r:id="rId21"/>
            </p:custDataLst>
          </p:nvPr>
        </p:nvCxnSpPr>
        <p:spPr>
          <a:xfrm>
            <a:off x="314960" y="2889250"/>
            <a:ext cx="149225" cy="63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97E6D65-A340-3C77-FB53-E8CB5A23F41D}"/>
              </a:ext>
            </a:extLst>
          </p:cNvPr>
          <p:cNvCxnSpPr>
            <a:cxnSpLocks/>
          </p:cNvCxnSpPr>
          <p:nvPr/>
        </p:nvCxnSpPr>
        <p:spPr>
          <a:xfrm flipH="1">
            <a:off x="774315" y="552450"/>
            <a:ext cx="165735" cy="363220"/>
          </a:xfrm>
          <a:prstGeom prst="line">
            <a:avLst/>
          </a:prstGeom>
          <a:ln w="25400" cmpd="dbl"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193.25,&quot;top&quot;:32.4,&quot;width&quot;:357.9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9,&quot;left&quot;:44.65,&quot;top&quot;:32.4,&quot;width&quot;:761.85}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102</Words>
  <Application>Microsoft Office PowerPoint</Application>
  <PresentationFormat>自定义</PresentationFormat>
  <Paragraphs>23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 Light</vt:lpstr>
      <vt:lpstr>Arial</vt:lpstr>
      <vt:lpstr>Wingdings</vt:lpstr>
      <vt:lpstr>1_WPS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ypWu</dc:creator>
  <cp:lastModifiedBy>yp wu</cp:lastModifiedBy>
  <cp:revision>167</cp:revision>
  <dcterms:created xsi:type="dcterms:W3CDTF">2019-06-19T02:08:00Z</dcterms:created>
  <dcterms:modified xsi:type="dcterms:W3CDTF">2025-02-03T05:56:56Z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5DC8951941044FF7A5F2A3E3CF052AED_13</vt:lpwstr>
  </property>
</Properties>
</file>